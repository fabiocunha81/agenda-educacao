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9320c443cd4e44" /><Relationship Type="http://schemas.openxmlformats.org/officeDocument/2006/relationships/extended-properties" Target="/docProps/app.xml" Id="R7f6fa156d7494cbf" /><Relationship Type="http://schemas.openxmlformats.org/officeDocument/2006/relationships/officeDocument" Target="/ppt/presentation.xml" Id="Ra5347c5c56694b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9657b28d7f4da9"/>
  </p:sldMasterIdLst>
  <p:notesMasterIdLst>
    <p:notesMasterId xmlns:r="http://schemas.openxmlformats.org/officeDocument/2006/relationships" r:id="R9337fb56826c4767"/>
  </p:notesMasterIdLst>
  <p:sldIdLst>
    <p:sldId xmlns:r="http://schemas.openxmlformats.org/officeDocument/2006/relationships" id="256" r:id="Rd6e1db3c8b4b41ec"/>
    <p:sldId xmlns:r="http://schemas.openxmlformats.org/officeDocument/2006/relationships" id="257" r:id="Ref9155335e00403c"/>
    <p:sldId xmlns:r="http://schemas.openxmlformats.org/officeDocument/2006/relationships" id="258" r:id="R88db4eedcb494a39"/>
    <p:sldId xmlns:r="http://schemas.openxmlformats.org/officeDocument/2006/relationships" id="259" r:id="Ra932c2c70af54ad0"/>
    <p:sldId xmlns:r="http://schemas.openxmlformats.org/officeDocument/2006/relationships" id="260" r:id="Ra72e6af802e4481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c4f3fac1c34261" /><Relationship Type="http://schemas.openxmlformats.org/officeDocument/2006/relationships/slideMaster" Target="/ppt/slideMasters/slideMaster1.xml" Id="Rc09657b28d7f4da9" /><Relationship Type="http://schemas.openxmlformats.org/officeDocument/2006/relationships/notesMaster" Target="/ppt/notesMasters/notesMaster1.xml" Id="R9337fb56826c4767" /><Relationship Type="http://schemas.openxmlformats.org/officeDocument/2006/relationships/presProps" Target="/ppt/presProps.xml" Id="Rccf430f07cb84704" /><Relationship Type="http://schemas.openxmlformats.org/officeDocument/2006/relationships/viewProps" Target="/ppt/viewProps.xml" Id="R73507bdb9199432b" /><Relationship Type="http://schemas.openxmlformats.org/officeDocument/2006/relationships/tableStyles" Target="/ppt/tableStyles.xml" Id="R8d994ad11da34c08" /><Relationship Type="http://schemas.openxmlformats.org/officeDocument/2006/relationships/slide" Target="/ppt/slides/slide1.xml" Id="Rd6e1db3c8b4b41ec" /><Relationship Type="http://schemas.openxmlformats.org/officeDocument/2006/relationships/slide" Target="/ppt/slides/slide2.xml" Id="Ref9155335e00403c" /><Relationship Type="http://schemas.openxmlformats.org/officeDocument/2006/relationships/slide" Target="/ppt/slides/slide3.xml" Id="R88db4eedcb494a39" /><Relationship Type="http://schemas.openxmlformats.org/officeDocument/2006/relationships/slide" Target="/ppt/slides/slide4.xml" Id="Ra932c2c70af54ad0" /><Relationship Type="http://schemas.openxmlformats.org/officeDocument/2006/relationships/slide" Target="/ppt/slides/slide5.xml" Id="Ra72e6af802e448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43269f9cdd42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882fae3de04aa8" /><Relationship Type="http://schemas.openxmlformats.org/officeDocument/2006/relationships/notesMaster" Target="/ppt/notesMasters/notesMaster1.xml" Id="R1fd4ee772e994e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7efda7cfa34218" /><Relationship Type="http://schemas.openxmlformats.org/officeDocument/2006/relationships/notesMaster" Target="/ppt/notesMasters/notesMaster1.xml" Id="R96bbb5c3e6b846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2cab7740704504" /><Relationship Type="http://schemas.openxmlformats.org/officeDocument/2006/relationships/notesMaster" Target="/ppt/notesMasters/notesMaster1.xml" Id="R0c6d73c7627244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420ab4ded04079" /><Relationship Type="http://schemas.openxmlformats.org/officeDocument/2006/relationships/notesMaster" Target="/ppt/notesMasters/notesMaster1.xml" Id="Rd35ce794b7ec42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b035e696a7488b" /><Relationship Type="http://schemas.openxmlformats.org/officeDocument/2006/relationships/notesMaster" Target="/ppt/notesMasters/notesMaster1.xml" Id="R61e07e3b69d747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8f9511bebb46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9a11a95736496f" /><Relationship Type="http://schemas.openxmlformats.org/officeDocument/2006/relationships/slideLayout" Target="/ppt/slideLayouts/slideLayout1.xml" Id="R32c16eac720242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c16eac720242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a098841e24ef7" /><Relationship Type="http://schemas.openxmlformats.org/officeDocument/2006/relationships/image" Target="/ppt/media/image.png" Id="R13efb31c5c1c496d" /><Relationship Type="http://schemas.openxmlformats.org/officeDocument/2006/relationships/image" Target="/ppt/media/image.svg" Id="R2810362442994b39" /><Relationship Type="http://schemas.openxmlformats.org/officeDocument/2006/relationships/notesSlide" Target="/ppt/notesSlides/notesSlide1.xml" Id="Rc209fb407f4f41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c4cba6a894454" /><Relationship Type="http://schemas.openxmlformats.org/officeDocument/2006/relationships/notesSlide" Target="/ppt/notesSlides/notesSlide2.xml" Id="Ree45b6a29cd649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d5a07f56a4adf" /><Relationship Type="http://schemas.openxmlformats.org/officeDocument/2006/relationships/image" Target="/ppt/media/image2.png" Id="R346c65592b284523" /><Relationship Type="http://schemas.openxmlformats.org/officeDocument/2006/relationships/image" Target="/ppt/media/image2.svg" Id="Re2f0100eaa7742be" /><Relationship Type="http://schemas.openxmlformats.org/officeDocument/2006/relationships/image" Target="/ppt/media/image3.png" Id="R1f8975dd63a24353" /><Relationship Type="http://schemas.openxmlformats.org/officeDocument/2006/relationships/image" Target="/ppt/media/image3.svg" Id="R73a4bb2576f8488e" /><Relationship Type="http://schemas.openxmlformats.org/officeDocument/2006/relationships/image" Target="/ppt/media/image4.png" Id="Rb3914bb5b5be48a7" /><Relationship Type="http://schemas.openxmlformats.org/officeDocument/2006/relationships/image" Target="/ppt/media/image4.svg" Id="R682e1edb01a5499a" /><Relationship Type="http://schemas.openxmlformats.org/officeDocument/2006/relationships/image" Target="/ppt/media/image5.png" Id="Rd8bb9fc2cd004393" /><Relationship Type="http://schemas.openxmlformats.org/officeDocument/2006/relationships/image" Target="/ppt/media/image5.svg" Id="R0fa8a399d97f4279" /><Relationship Type="http://schemas.openxmlformats.org/officeDocument/2006/relationships/image" Target="/ppt/media/image6.png" Id="R4b0c20d050f541f9" /><Relationship Type="http://schemas.openxmlformats.org/officeDocument/2006/relationships/image" Target="/ppt/media/image6.svg" Id="Rfb86d7b93daf48ff" /><Relationship Type="http://schemas.openxmlformats.org/officeDocument/2006/relationships/notesSlide" Target="/ppt/notesSlides/notesSlide3.xml" Id="R4ebb7bba24d945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ff721d953408e" /><Relationship Type="http://schemas.openxmlformats.org/officeDocument/2006/relationships/notesSlide" Target="/ppt/notesSlides/notesSlide4.xml" Id="Rd0e1b5dcf85940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2847547b9444b" /><Relationship Type="http://schemas.openxmlformats.org/officeDocument/2006/relationships/notesSlide" Target="/ppt/notesSlides/notesSlide5.xml" Id="R8be95e9c64dd489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D9B355-B1CF-47B7-A3C8-B90C0386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F5EC3-2CB3-4F87-8E2B-6155E8BB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D5034-1D2C-421D-BAF0-C0F4C725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C9BD85-B3C3-4631-B274-1E49231D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89D8F-347B-45FF-B9B9-43E66AD5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99075-648E-482A-89D4-A9D4FD59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73672-2B6A-4733-A886-EAF306E3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2ADD56-F7FD-4DBF-8FF8-CDCA5C99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FA5BF-26D4-47CB-8E11-2AF3A402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357E8-4326-4C0C-A533-BC91626F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792B44-2F12-4E36-93C2-294C6912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CE1C29-F948-4C39-BF76-BC6634CF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91F30-5753-40B7-90C3-5B26C488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B0BE4D-09E5-40F4-9541-EFFEB55C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E098C0-C700-45E0-B0A1-887F08B7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C0B459-949E-4759-B615-BC8E1575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012977-B8FB-4FF7-9315-192B46D5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3B3C48-85FD-4535-B906-31BC505F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79AAA1-04BE-4C92-8058-0F370665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3880CD-27EF-4DA6-B20B-F9B76C7E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100B72-219E-47C6-A3CF-B16CB875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077F10-5A63-48D5-B4D9-A63DACE4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223BA2-1B58-4C89-AF9E-CA68606C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6248F3-8DED-4B38-A0EA-71AB68F0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15700C-BF51-4144-9C3C-D1E45B18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940135-FD59-4085-8BF0-802FA16A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4915D5-73CA-4881-BE2E-D51B3EC3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4974FA-9CB6-4BA7-BE9A-909A374D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D04188-D651-4E10-9D9F-D3974F9C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C80ADE-9C8C-4A87-982B-29B5BCB6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935AE9-7E3C-4CDF-B36D-C3065206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E69D68-85CD-4C08-8E03-D3DC048D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156B0A-B4DF-45D0-860E-A41F058A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6A3D29-A162-4F51-B4B9-BCE37A98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C60754E1-5864-434E-8DDE-3074BEF6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1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C14E"/>
                </a:solidFill>
                <a:latin typeface="Aptos"/>
                <a:ea typeface="Aptos"/>
                <a:cs typeface="Aptos"/>
              </a:rPr>
              <a:t>AGENDA EDUCAÇÃO OLS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B52B7D-42F4-4252-B455-F905F7BA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6858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Pedido, agenda e relatório técnico em um fluxo integrado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2A6710-3582-47D9-9C24-823CB1FC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685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A aplicação organiza a entrada pública das solicitações, a decisão administrativa, a escala operacional e o registro técnico dos resultados.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3EB008-3499-4BCC-AAF5-F3E05E7D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433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864E5D-E8BD-46A1-A11E-9877E758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476750"/>
            <a:ext cx="1381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6FFE0D-AF79-4B75-AE55-C1CE7A65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Entrada pública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A80D3C-2942-4FBF-A91A-5AA60C26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link aberto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9F4AAF-8348-4CC7-8928-463C03FA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8387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Gestão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DAE47C-982C-49EE-9D4F-6EFB9A2D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1244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aprovação e escala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A02C4E4-0D29-41EE-B4DC-561B2354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8387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Indicadores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9561B0-4D07-496A-AA51-E59C93FC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1244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relatório técnico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7FD265-EE15-492B-8245-F3B79D34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0A0">
              <a:alpha val="14902"/>
            </a:srgbClr>
          </a:solidFill>
          <a:ln xmlns:a="http://schemas.openxmlformats.org/drawingml/2006/main" w="19050">
            <a:solidFill>
              <a:srgbClr val="21A0A0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efb31c5c1c496d">
            <a:extLst>
              <a:ext uri="{96DAC541-7B7A-43D3-8B79-37D633B846F1}">
                <asvg:svgBlip xmlns:asvg="http://schemas.microsoft.com/office/drawing/2016/SVG/main" r:embed="R2810362442994b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96375" y="1866900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F52D9D-77ED-43A1-BE7F-926D920A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24300"/>
            <a:ext cx="2524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Fluxo da solução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BDC4313-228E-4B29-8BF2-4505F9E3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43400"/>
            <a:ext cx="3000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Do pedido ao dado de gestão, sem perder rastreabilidade operacional.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F38E9A3-FCDA-4FA7-98A3-4A5042B9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293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8E3EA">
                    <a:alpha val="72157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E3EA">
                    <a:alpha val="72157"/>
                  </a:srgbClr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09650926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1DD8C7-DCE0-489D-906A-54D98BCB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3B380-2417-4B83-B255-CBCD3708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75413BA0-D84E-4097-9A1B-7E831AB0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3000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1A0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1A0A0"/>
                </a:solidFill>
                <a:latin typeface="Aptos"/>
                <a:ea typeface="Aptos"/>
                <a:cs typeface="Aptos"/>
              </a:rPr>
              <a:t>CONTEXTO OPERACIONAL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78A15-CE44-4877-AB79-44F2276E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2500"/>
            <a:ext cx="838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A2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71A2C"/>
                </a:solidFill>
                <a:latin typeface="Aptos Display"/>
                <a:ea typeface="Aptos Display"/>
                <a:cs typeface="Aptos Display"/>
              </a:rPr>
              <a:t>Sem integração, a ação educativa perde velocidade e memória.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C1C53-DE9A-42A2-AD4A-2DEC2939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4B3DA-B538-4A95-9FF6-0CB295C2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9552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DBB03-C785-42D0-982E-4A69385D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1932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A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A2C"/>
                </a:solidFill>
                <a:latin typeface="Aptos"/>
                <a:ea typeface="Aptos"/>
                <a:cs typeface="Aptos"/>
              </a:rPr>
              <a:t>Entrada dispersa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E6B89-62F9-4848-A082-E5FB9D70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57425"/>
            <a:ext cx="581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Pedidos chegam por canais diferentes e exigem consolidação manual.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46D87-B043-4F0B-A5B9-FAF82090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0987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5DE1A4-98CE-4BF3-AB91-318C9067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1942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01AAF-29F6-4A91-91FB-C8498772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7657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DE72A7-1840-4022-A0FB-4AE56148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0037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A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A2C"/>
                </a:solidFill>
                <a:latin typeface="Aptos"/>
                <a:ea typeface="Aptos"/>
                <a:cs typeface="Aptos"/>
              </a:rPr>
              <a:t>Decisão sem trilha única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586AAD-AED9-402E-B711-1F5EFAC4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38475"/>
            <a:ext cx="581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Aprovações, recusas e reagendamentos podem ficar fora do histórico principal.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7E034-1D62-4B37-9501-AE556143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9092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7C0CFB-E6A3-4CEE-829F-0B3BDFBE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0047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BBCB24-1289-4A67-A945-23FA6732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3B55C7-7493-4E54-9196-921E2B1A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8142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A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A2C"/>
                </a:solidFill>
                <a:latin typeface="Aptos"/>
                <a:ea typeface="Aptos"/>
                <a:cs typeface="Aptos"/>
              </a:rPr>
              <a:t>Escala operacional frágil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B0E953-5C66-4F49-A740-AC423542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19525"/>
            <a:ext cx="581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Equipe, chefia, agentes, materiais e datas precisam de uma visão única.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469BC-6003-4ADB-85F6-89F7D383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7197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5B116F-A703-421F-A58F-FD99D4A4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8152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36B392-A1DC-4633-9927-53C1133E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3867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63603E-17ED-47EE-9348-BD07659A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6247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A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A2C"/>
                </a:solidFill>
                <a:latin typeface="Aptos"/>
                <a:ea typeface="Aptos"/>
                <a:cs typeface="Aptos"/>
              </a:rPr>
              <a:t>Resultado pouco acionável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265744-1F16-4B84-BC8E-DA866A39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00575"/>
            <a:ext cx="581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Sem relatório padronizado, indicadores de gestão ficam incompletos.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7B3F46-7532-4E58-9FAA-932C72A1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5302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0D66C5-D779-452D-B54E-B99B44B9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6265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A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A2C"/>
                </a:solidFill>
                <a:latin typeface="Aptos"/>
                <a:ea typeface="Aptos"/>
                <a:cs typeface="Aptos"/>
              </a:rPr>
              <a:t>O sistema resolve isso ao transformar cada pedido em uma linha operacional auditável.</a:t>
            </a:r>
          </a:p>
        </p:txBody>
      </p:sp>
    </p:spTree>
    <p:extLst>
      <p:ext uri="{BB962C8B-B14F-4D97-AF65-F5344CB8AC3E}">
        <p14:creationId xmlns:p14="http://schemas.microsoft.com/office/powerpoint/2010/main" val="3715792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12992A-13CA-409A-8594-08966D00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1620B-574F-4238-97A9-BC0927F9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80E88-91F3-4DD5-9C89-06F8FD3D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B13E2-DC3E-4B7B-8727-AD7EDE3F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1BFC7-39D2-4B01-A835-B6A9004A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A9929C-C7B1-4199-8E73-8E94D85E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98122-D136-4574-AA0A-99F20A4A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38FB7-4196-4C82-97E1-4908725D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FC4A7-1F3D-4697-9D2C-15E667D8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6A831-6DCC-4661-84A8-AAF122E7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CB69DB-839B-4B1A-8CC2-3F7DE7E5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32E8C-B12C-44C4-8A20-39EA01C0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1431C2-C29A-4EB9-8E5B-E80E949D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B71112-6425-4A5B-A3BE-E261EDBF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04AAC5-9C53-46CF-8178-89015E88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882EC2-A079-4D17-A7DA-C4F1BC32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DA51E7-F51A-4B65-8806-261C5894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7E8996-EE10-49A0-B51B-3BC102E9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FEB17F-4934-4CAF-8B3E-1EC53AE9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8F1C33-4C05-44F2-8F0B-930D73A6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F82627-CF02-446B-9423-9BCD404D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956709-F9C7-4A89-A05B-F236B5CE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B44F88-85EB-4180-BC7A-94FCE0B1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18CC9D-1752-45B4-B0A3-B0C57437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2A4612-82D3-473A-9133-A2585BDD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B46824-0578-451A-9690-B81F07B2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6D66B4-4494-4AFE-8AE9-E0D299CD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2C4DA2-482A-4760-9B7E-136E35FB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983769-F54F-4E09-B231-3109C9DB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07C697-29A5-4866-8B60-1A4E387F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CB8AA3-DE8F-41EA-B922-E9A64038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271C76-59BF-4571-8617-2F2933D8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9FEEB4-516D-4718-A20A-B5C66FD5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E8EF5C2C-177F-43A9-8DBE-AB36BDD4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C14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C14E"/>
                </a:solidFill>
                <a:latin typeface="Aptos"/>
                <a:ea typeface="Aptos"/>
                <a:cs typeface="Aptos"/>
              </a:rPr>
              <a:t>FLUXO DA SOLUÇÃO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CB227C-B847-4DDF-9910-6E7741B9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85825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O fluxo integra pedido, agenda e relatório.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512C0F-7991-4086-BD80-CF627F90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A solicitação pública alimenta a decisão administrativa, a escala operacional e o registro técnico dos resultados.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4C5DFC-4BE9-4976-ADBC-7A30CB29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19400"/>
            <a:ext cx="962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931CA0-CE92-4672-A53E-B30D90B5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76212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9525">
            <a:solidFill>
              <a:srgbClr val="D8E3EA">
                <a:alpha val="14118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25EFA6-8055-4DED-992F-B3B229F0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762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E5EBE1-3B4F-4525-819A-E7B5A834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527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19050">
            <a:solidFill>
              <a:srgbClr val="21A0A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396B2C-B00E-46D4-994A-7015B0C1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67652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6c65592b284523">
            <a:extLst>
              <a:ext uri="{96DAC541-7B7A-43D3-8B79-37D633B846F1}">
                <asvg:svgBlip xmlns:asvg="http://schemas.microsoft.com/office/drawing/2016/SVG/main" r:embed="Re2f0100eaa7742b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28750" y="33718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0A17E5-20E9-4C3B-A937-2994902D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76675"/>
            <a:ext cx="14954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Solicitação pública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D17459-2D76-4375-B6EE-322F71B6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400550"/>
            <a:ext cx="1476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Instituições ou responsáveis registram pedidos por meio de um link público.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F043949-77D3-4A6B-91E7-9E1897E5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66950"/>
            <a:ext cx="176212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9525">
            <a:solidFill>
              <a:srgbClr val="D8E3EA">
                <a:alpha val="14118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E7BFD5-45E8-4A83-85D2-EC293AC2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66950"/>
            <a:ext cx="1762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082726-6707-422C-AA13-2AEAB1E3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527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19050">
            <a:solidFill>
              <a:srgbClr val="21A0A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F713F7C-A51D-4541-ABED-4A24E64B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67652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8975dd63a24353">
            <a:extLst>
              <a:ext uri="{96DAC541-7B7A-43D3-8B79-37D633B846F1}">
                <asvg:svgBlip xmlns:asvg="http://schemas.microsoft.com/office/drawing/2016/SVG/main" r:embed="R73a4bb2576f8488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619500" y="33718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ED2EAA5-7F8C-480A-A3A9-AEE6D78D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76675"/>
            <a:ext cx="14954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Análise administrativa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313EE9E-2CB2-451B-A5BE-C79C6C62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400550"/>
            <a:ext cx="1476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A equipe avalia aprovação, recusa, reagendamento ou novas datas.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F6941C5-EB61-4B8E-9028-3EBB40D3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66950"/>
            <a:ext cx="176212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9525">
            <a:solidFill>
              <a:srgbClr val="D8E3EA">
                <a:alpha val="14118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8537976-9B24-4B88-90DF-A22D431C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66950"/>
            <a:ext cx="1762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5E721D3-0CC7-49B5-A4AB-59B78735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527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19050">
            <a:solidFill>
              <a:srgbClr val="21A0A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182D6CB-9EAA-4F43-AE5C-9F2EDC0A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67652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914bb5b5be48a7">
            <a:extLst>
              <a:ext uri="{96DAC541-7B7A-43D3-8B79-37D633B846F1}">
                <asvg:svgBlip xmlns:asvg="http://schemas.microsoft.com/office/drawing/2016/SVG/main" r:embed="R682e1edb01a5499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10250" y="33718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968886F-1DBD-40D3-9420-58A28E6B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76675"/>
            <a:ext cx="14954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Agenda operacional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F6ACB01-5766-4645-A435-12257455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400550"/>
            <a:ext cx="1476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O pedido aprovado recebe equipe, chefia, agentes, recursos e materiais.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CED0425-F895-4BBD-B895-7AEE2D06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66950"/>
            <a:ext cx="176212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9525">
            <a:solidFill>
              <a:srgbClr val="D8E3EA">
                <a:alpha val="14118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F3FF20E-28DD-440C-98A2-E1177393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66950"/>
            <a:ext cx="1762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BF3CBC1-CDCC-4A07-A7AE-F6012061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527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19050">
            <a:solidFill>
              <a:srgbClr val="F2C14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87E39A9-0FBF-44C5-BAD3-BCCC7400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67652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b9fc2cd004393">
            <a:extLst>
              <a:ext uri="{96DAC541-7B7A-43D3-8B79-37D633B846F1}">
                <asvg:svgBlip xmlns:asvg="http://schemas.microsoft.com/office/drawing/2016/SVG/main" r:embed="R0fa8a399d97f427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01000" y="33718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B454387-54E8-4AF0-A416-7B562CE1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76675"/>
            <a:ext cx="14954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Execução da ação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5043902-2085-41AE-8D87-ACC6499E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400550"/>
            <a:ext cx="1476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A atividade educativa é realizada com base na escala consolidada.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C5EFD62-00BC-4359-927B-EB744A0F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66950"/>
            <a:ext cx="176212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9525">
            <a:solidFill>
              <a:srgbClr val="D8E3EA">
                <a:alpha val="14118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FC56217-CFCA-4F00-9FA0-128D011A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66950"/>
            <a:ext cx="1762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03E8E82-AF9F-4423-9542-3B9D9361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527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19050">
            <a:solidFill>
              <a:srgbClr val="F2C14E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7509245-7137-4252-A02B-6D5BA82F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67652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c20d050f541f9">
            <a:extLst>
              <a:ext uri="{96DAC541-7B7A-43D3-8B79-37D633B846F1}">
                <asvg:svgBlip xmlns:asvg="http://schemas.microsoft.com/office/drawing/2016/SVG/main" r:embed="Rfb86d7b93daf48f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191750" y="33718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DCC925E-EC9B-4B11-A4F3-2F513FBD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76675"/>
            <a:ext cx="14954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Relatório técnico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2AD989B-2CC1-4877-9DBB-17624957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400550"/>
            <a:ext cx="1476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Quantitativos, ocorrências, materiais e resultados alimentam indicadores.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82AB99C-8262-4E7B-82B4-59856BA6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1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2C14E"/>
                </a:solidFill>
                <a:latin typeface="Aptos"/>
                <a:ea typeface="Aptos"/>
                <a:cs typeface="Aptos"/>
              </a:rPr>
              <a:t>RESULTADO INTEGRADO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17CAE7F-6D4B-4B4B-A1EB-4E49FFB0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505450"/>
            <a:ext cx="771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Dados operacionais consistentes passam a apoiar dashboards, estatísticas e decisões de gestão.</a:t>
            </a:r>
          </a:p>
        </p:txBody>
      </p:sp>
    </p:spTree>
    <p:extLst>
      <p:ext uri="{BB962C8B-B14F-4D97-AF65-F5344CB8AC3E}">
        <p14:creationId xmlns:p14="http://schemas.microsoft.com/office/powerpoint/2010/main" val="44094761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F6954F-4807-43AD-851D-ACD555CF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B8799-DB0F-4F39-BA67-D0BAB600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936D28B3-02E9-4689-A093-B849785A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1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2C14E"/>
                </a:solidFill>
                <a:latin typeface="Aptos"/>
                <a:ea typeface="Aptos"/>
                <a:cs typeface="Aptos"/>
              </a:rPr>
              <a:t>GESTÃO DA OPERAÇÃO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10CCF-12FC-41B3-8F40-EA196C51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Cada decisão vira uma informação operacional reutilizável.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AEC87-9AAC-42BF-8330-F64A23A5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38300"/>
            <a:ext cx="114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6DC0A-DD3D-4A46-8801-57EACD6E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192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A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A2C"/>
                </a:solidFill>
                <a:latin typeface="Aptos"/>
                <a:ea typeface="Aptos"/>
                <a:cs typeface="Aptos"/>
              </a:rPr>
              <a:t>Status do pedido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C4E48-5AF8-42A7-B72A-C5B4F781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3357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aprovado, recusado ou reagendado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1B034-723E-4E7F-9234-AB49FF16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14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B2220-71A0-4C4A-81CE-96B9B54B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955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A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A2C"/>
                </a:solidFill>
                <a:latin typeface="Aptos"/>
                <a:ea typeface="Aptos"/>
                <a:cs typeface="Aptos"/>
              </a:rPr>
              <a:t>Escala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67575D-482D-4B01-96A6-9CC83F7F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0987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chefia, agentes e equipe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CEA7AF-5A67-4071-9916-636F3570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114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A5B9E-E33E-4DC0-98B4-4B6E8C84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718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A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A2C"/>
                </a:solidFill>
                <a:latin typeface="Aptos"/>
                <a:ea typeface="Aptos"/>
                <a:cs typeface="Aptos"/>
              </a:rPr>
              <a:t>Recursos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88B3E3-BE3D-4BE9-915E-AEA0C02A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8617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materiais e preparação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B2CA4F-12AC-4865-B621-2C25A2C4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114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263B50-55F4-49FA-8B54-D027D32E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481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A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A2C"/>
                </a:solidFill>
                <a:latin typeface="Aptos"/>
                <a:ea typeface="Aptos"/>
                <a:cs typeface="Aptos"/>
              </a:rPr>
              <a:t>Execução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F1CECC-50B5-47FA-B19B-2EA14F42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dados reais da atividade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A1522A-6471-457D-97DC-907E0986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38300"/>
            <a:ext cx="5715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08827E-7F42-49E0-8387-B35555AF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240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A2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A2C"/>
                </a:solidFill>
                <a:latin typeface="Aptos"/>
                <a:ea typeface="Aptos"/>
                <a:cs typeface="Aptos"/>
              </a:rPr>
              <a:t>Painel operacional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1A0E55-6DC9-46D8-BAEC-1D067FD0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860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Solicitações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E86203-C706-4C7E-9504-E6A6B7DA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33650"/>
            <a:ext cx="295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FF7C99-8E1A-468F-B554-214AC6FC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33650"/>
            <a:ext cx="253936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506178-3A52-4E14-914F-F3CB151A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194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Agendadas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A83CD4-3434-4084-9DCA-7F7786B7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67050"/>
            <a:ext cx="295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28EC7B-6742-47DB-8CE4-7673DFCA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67050"/>
            <a:ext cx="200787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CF2648-9D2B-4B9F-B75A-5DC9B56D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528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Executadas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5150E6-AF7B-43FB-8424-847244E8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00450"/>
            <a:ext cx="295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3A3BF9-866F-4ABB-A522-8FB8F219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00450"/>
            <a:ext cx="162401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4E6AB3-9580-4F6F-B9B1-100F1B7B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862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Com relatório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044D69-1290-4AB6-9469-3C97C33D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33850"/>
            <a:ext cx="295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072A5D-C45E-4EB6-B2EC-2E7E7B9C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33850"/>
            <a:ext cx="218503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99A144-FA98-4B40-B742-A7EE75AC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5910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9203AA-59CC-4160-857B-1B7D97E9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810125"/>
            <a:ext cx="4810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A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A2C"/>
                </a:solidFill>
                <a:latin typeface="Aptos"/>
                <a:ea typeface="Aptos"/>
                <a:cs typeface="Aptos"/>
              </a:rPr>
              <a:t>O valor do sistema está na continuidade: o dado nasce no pedido e chega ao indicador sem recontagem manual.</a:t>
            </a:r>
          </a:p>
        </p:txBody>
      </p:sp>
    </p:spTree>
    <p:extLst>
      <p:ext uri="{BB962C8B-B14F-4D97-AF65-F5344CB8AC3E}">
        <p14:creationId xmlns:p14="http://schemas.microsoft.com/office/powerpoint/2010/main" val="83205797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70A0AE-1753-4D37-B55C-8507B99C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5140A-78ED-4ABC-A312-9CF9ED26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2791A77E-853F-43B0-96C5-FBFAC4DE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C14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C14E"/>
                </a:solidFill>
                <a:latin typeface="Aptos"/>
                <a:ea typeface="Aptos"/>
                <a:cs typeface="Aptos"/>
              </a:rPr>
              <a:t>RESULTADO ESPERADO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BC5F3-62D9-4406-AE80-C4218640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 agenda deixa de ser apenas calendário e passa a ser inteligência de gestão.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22520-4F13-4185-8040-62158EB9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2C4A3-5D79-4921-9D4D-A8AC32B8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Rastreabilidade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3CF75-99A1-4E28-B0AE-1267257E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2714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histórico único do pedido até o relatório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6EE56-804B-451E-B9D3-14A1FB94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714625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39BC9-04FA-42C6-82D1-1B0152F0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00037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Previsibilidade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BA1D8-6D75-4A4E-B01D-3EDD3552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409950"/>
            <a:ext cx="2714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escala e recursos visíveis antes da 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876F1D-8447-4D5C-9FEA-5A399D06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14625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6E0992-B747-43C2-9ED7-CF686912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0037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Indicadores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736EE9-3746-4FE0-A644-A4B2C1DE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09950"/>
            <a:ext cx="2714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resultados estruturados para dashboards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813E49-4160-48C7-9F4B-8FCFE5D1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A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A2C"/>
                </a:solidFill>
                <a:latin typeface="Aptos"/>
                <a:ea typeface="Aptos"/>
                <a:cs typeface="Aptos"/>
              </a:rPr>
              <a:t>Próximo passo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B049F1-0861-4C42-A712-A8696DDA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429250"/>
            <a:ext cx="781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Validar campos obrigatórios, padronizar relatórios e conectar os dados consolidados aos dashboards de acompanhamento.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548B86-6CE9-4612-A22B-DC383127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191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Agenda Educação OLS</a:t>
            </a:r>
          </a:p>
        </p:txBody>
      </p:sp>
    </p:spTree>
    <p:extLst>
      <p:ext uri="{BB962C8B-B14F-4D97-AF65-F5344CB8AC3E}">
        <p14:creationId xmlns:p14="http://schemas.microsoft.com/office/powerpoint/2010/main" val="18102547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2026-06-10T16:59:29.4450000Z</dcterms:created>
  <dcterms:modified xsi:type="dcterms:W3CDTF">2026-06-10T16:59:29.4450000Z</dcterms:modified>
</coreProperties>
</file>