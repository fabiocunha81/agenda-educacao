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3c6cab8df7409b" /><Relationship Type="http://schemas.openxmlformats.org/officeDocument/2006/relationships/extended-properties" Target="/docProps/app.xml" Id="R65ab3d31d0f047fc" /><Relationship Type="http://schemas.openxmlformats.org/officeDocument/2006/relationships/officeDocument" Target="/ppt/presentation.xml" Id="R23e94eb62af842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2e619bee2e435a"/>
  </p:sldMasterIdLst>
  <p:notesMasterIdLst>
    <p:notesMasterId xmlns:r="http://schemas.openxmlformats.org/officeDocument/2006/relationships" r:id="R05f1b71b623d41be"/>
  </p:notesMasterIdLst>
  <p:sldIdLst>
    <p:sldId xmlns:r="http://schemas.openxmlformats.org/officeDocument/2006/relationships" id="256" r:id="R66be1efa607f4bf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6d98948d8d4aee" /><Relationship Type="http://schemas.openxmlformats.org/officeDocument/2006/relationships/slideMaster" Target="/ppt/slideMasters/slideMaster1.xml" Id="R5b2e619bee2e435a" /><Relationship Type="http://schemas.openxmlformats.org/officeDocument/2006/relationships/notesMaster" Target="/ppt/notesMasters/notesMaster1.xml" Id="R05f1b71b623d41be" /><Relationship Type="http://schemas.openxmlformats.org/officeDocument/2006/relationships/presProps" Target="/ppt/presProps.xml" Id="R45d32bb62ad3419f" /><Relationship Type="http://schemas.openxmlformats.org/officeDocument/2006/relationships/viewProps" Target="/ppt/viewProps.xml" Id="R6d37c32731a84863" /><Relationship Type="http://schemas.openxmlformats.org/officeDocument/2006/relationships/tableStyles" Target="/ppt/tableStyles.xml" Id="Rbc1f6bace0ae4139" /><Relationship Type="http://schemas.openxmlformats.org/officeDocument/2006/relationships/slide" Target="/ppt/slides/slide1.xml" Id="R66be1efa607f4b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0849efba2242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ac32e2b3ad4640" /><Relationship Type="http://schemas.openxmlformats.org/officeDocument/2006/relationships/notesMaster" Target="/ppt/notesMasters/notesMaster1.xml" Id="Rdc4120968f5849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984cb81c3442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b4688de6a34f48" /><Relationship Type="http://schemas.openxmlformats.org/officeDocument/2006/relationships/slideLayout" Target="/ppt/slideLayouts/slideLayout1.xml" Id="R5b8417638b3d4f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8417638b3d4f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0e9b7057034790" /><Relationship Type="http://schemas.openxmlformats.org/officeDocument/2006/relationships/image" Target="/ppt/media/image.png" Id="R28f97da9384c4e3f" /><Relationship Type="http://schemas.openxmlformats.org/officeDocument/2006/relationships/image" Target="/ppt/media/image.svg" Id="R905c1b9f8a554d5c" /><Relationship Type="http://schemas.openxmlformats.org/officeDocument/2006/relationships/image" Target="/ppt/media/image2.png" Id="R6acf6089713348a1" /><Relationship Type="http://schemas.openxmlformats.org/officeDocument/2006/relationships/image" Target="/ppt/media/image2.svg" Id="R2724dafaf0834295" /><Relationship Type="http://schemas.openxmlformats.org/officeDocument/2006/relationships/image" Target="/ppt/media/image3.png" Id="R17c86f13484d4631" /><Relationship Type="http://schemas.openxmlformats.org/officeDocument/2006/relationships/image" Target="/ppt/media/image3.svg" Id="R0a7e4e0a6b5d491d" /><Relationship Type="http://schemas.openxmlformats.org/officeDocument/2006/relationships/image" Target="/ppt/media/image4.png" Id="R4bb6304cae744ed4" /><Relationship Type="http://schemas.openxmlformats.org/officeDocument/2006/relationships/image" Target="/ppt/media/image4.svg" Id="Rae2073c4100e4303" /><Relationship Type="http://schemas.openxmlformats.org/officeDocument/2006/relationships/image" Target="/ppt/media/image5.png" Id="R9d864322bf644c9c" /><Relationship Type="http://schemas.openxmlformats.org/officeDocument/2006/relationships/image" Target="/ppt/media/image5.svg" Id="R3b8c536b75c34d46" /><Relationship Type="http://schemas.openxmlformats.org/officeDocument/2006/relationships/image" Target="/ppt/media/image6.png" Id="Rb34ce14d41ec4526" /><Relationship Type="http://schemas.openxmlformats.org/officeDocument/2006/relationships/image" Target="/ppt/media/image6.svg" Id="R8071789779d3487d" /><Relationship Type="http://schemas.openxmlformats.org/officeDocument/2006/relationships/notesSlide" Target="/ppt/notesSlides/notesSlide1.xml" Id="R89fe458c45dd456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53CAE8-B119-46BB-8420-CD31F1B7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03196A-0127-44C6-91B5-F0AD1D2F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5C4E54-96D0-4872-9AC9-C1062F37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984AAE-7CFC-420E-BBBA-258DA141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95E8C8-21B8-4C91-B347-45091AEE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0BE1B4-8A08-438B-8910-E5063C02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12C652-9F5E-4F85-91B6-AC7A694F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996714-FBFF-4020-9FB3-FDDFCA74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F2E576-4779-4078-A2D5-F7335DC3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EE8713-6078-4708-A025-A48BD4EF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EE3465-21D8-429F-99BC-7A4E45FD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70CE86-9006-44BF-AB2A-A4BBAAA9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2D15DF-649F-49BB-A992-625C500C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6941FC-B276-480A-B7B0-AE95F89E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01F38B-3D2B-43AD-B6E3-59196E13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3BF741-3D02-43E8-B433-F2B57CAF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4EF4EB-187B-4BD7-A1A7-29D58C0B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34A6DF-334D-4546-A65D-E69B20CA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0F89E3-F5DB-4E0F-9C6C-6CCA8589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4E69F0-E2FF-4093-BC77-EE970028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4F9C9E-A3A7-4B08-9BDA-C8273EB3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C2D436-2A37-4A7B-8B84-C5EF54D1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F5DD13-723B-45B1-BB21-8E2BB739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2D3F51-2F7C-4256-8FB2-0C08F69A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27E289-AB68-4988-B664-CF588BC5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AE46B9-227A-480A-ACFE-6A93BA9B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80736D-7763-4317-8411-8A944E6A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FFE43E-D4DD-4FD2-B013-BC230A97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72AB0F-E28B-4740-9886-55DEA93E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8AB264-C193-43C1-AEA8-C3D88BD6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BC3C54-D948-4723-B0BA-266FB7C1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459ED2-E815-4C27-B290-609492DA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CCA646-FF13-434A-8737-A3F752A5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FDC2DA-BADD-4B62-90D6-F414F8FC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7D30E5-F45D-4E33-9C41-056D20DE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02AF4231-2EC6-4883-B0A7-6D564A42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C14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C14E"/>
                </a:solidFill>
                <a:latin typeface="Aptos"/>
                <a:ea typeface="Aptos"/>
                <a:cs typeface="Aptos"/>
              </a:rPr>
              <a:t>FLUXO DA SOLUÇÃO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936DA0-A30F-451A-A7F6-AEE091BE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O fluxo integra pedido, agenda, relatório e pesquisa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167282-3117-433C-A345-CBFB901A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933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 aplicação liga a entrada pública da solicitação à decisão administrativa, à escala operacional, ao registro técnico dos resultados e ao envio da pesquisa de satisfação.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DB8497-61CA-47C6-B37B-CFD5C9BF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09925"/>
            <a:ext cx="998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4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B3C08A5-60DB-4D71-B73C-0AAE9A4C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1676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34C6323-EBFE-4F9E-8BE0-713DCEB4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1676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0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CD80944-2A33-4EDB-81DC-E70BC47A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05125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C"/>
          </a:solidFill>
          <a:ln xmlns:a="http://schemas.openxmlformats.org/drawingml/2006/main" w="28575">
            <a:solidFill>
              <a:srgbClr val="21A0A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748C05D-D572-4BCC-88A2-840A2226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02895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5CB6616-270D-4BDE-B38D-EE4660FB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590800"/>
            <a:ext cx="1676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DCA6700-6CA7-4434-9F56-B281B2D5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590800"/>
            <a:ext cx="1676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0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E42CD15-2C59-4B52-98F4-80B227BE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05125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C"/>
          </a:solidFill>
          <a:ln xmlns:a="http://schemas.openxmlformats.org/drawingml/2006/main" w="28575">
            <a:solidFill>
              <a:srgbClr val="21A0A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92C04D5-A103-4ACC-90ED-031FC432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02895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7D361A2-5E96-46C1-BC8A-57613A71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90800"/>
            <a:ext cx="1676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4E3F298-EA22-4951-933F-FA01595B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90800"/>
            <a:ext cx="1676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2559346-49F8-4952-A8E1-D2468425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05125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C"/>
          </a:solidFill>
          <a:ln xmlns:a="http://schemas.openxmlformats.org/drawingml/2006/main" w="28575">
            <a:solidFill>
              <a:srgbClr val="F2C14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43AA76E-5E19-4A94-9781-E1C225B8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2895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8CA1188-D444-4316-8607-E2ABA38B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90800"/>
            <a:ext cx="1676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4FD6238-411C-45F1-A8C7-BD1F98CE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90800"/>
            <a:ext cx="1676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0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0147305-D7A3-4A0D-B719-ED307C8E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05125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C"/>
          </a:solidFill>
          <a:ln xmlns:a="http://schemas.openxmlformats.org/drawingml/2006/main" w="28575">
            <a:solidFill>
              <a:srgbClr val="21A0A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387820B-63FE-4442-B08D-B3F8519C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02895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7C93AAB-B35A-4DDC-9FBE-3FBF946D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90800"/>
            <a:ext cx="1676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7555AE7-EA37-4EA6-9672-56E079A3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90800"/>
            <a:ext cx="1676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4E00571-49B1-42B2-A31C-3298C046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05125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C"/>
          </a:solidFill>
          <a:ln xmlns:a="http://schemas.openxmlformats.org/drawingml/2006/main" w="28575">
            <a:solidFill>
              <a:srgbClr val="F2C14E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E6CEC5F-4BDB-4107-AE63-17DB4D30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02895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B8C68DD-8684-402C-9AE5-EB808BAD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90800"/>
            <a:ext cx="1676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8B0C09A-C4B4-4B02-812F-9C6C8838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90800"/>
            <a:ext cx="1676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9BB11A9-F7CF-4C0F-9DE2-9BF88CBE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905125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C"/>
          </a:solidFill>
          <a:ln xmlns:a="http://schemas.openxmlformats.org/drawingml/2006/main" w="28575">
            <a:solidFill>
              <a:srgbClr val="F2C14E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C633BD8-3031-4D08-AEDB-2AAB5D59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302895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f97da9384c4e3f">
            <a:extLst>
              <a:ext uri="{96DAC541-7B7A-43D3-8B79-37D633B846F1}">
                <asvg:svgBlip xmlns:asvg="http://schemas.microsoft.com/office/drawing/2016/SVG/main" r:embed="R905c1b9f8a554d5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43025" y="37338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1CE13C1-B732-43D8-A3EF-4BF4C9D9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Solicitação pública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81ABF46-F9D4-428E-9226-98145647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57725"/>
            <a:ext cx="1447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Instituições ou responsáveis registram pedidos por meio de um link público.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cf6089713348a1">
            <a:extLst>
              <a:ext uri="{96DAC541-7B7A-43D3-8B79-37D633B846F1}">
                <asvg:svgBlip xmlns:asvg="http://schemas.microsoft.com/office/drawing/2016/SVG/main" r:embed="R2724dafaf083429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228975" y="37338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D53C028-C69B-45C8-8DB9-6DC45EED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2100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Análise administrativa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6B6BC1E-4EC9-42BB-BE43-B9275152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57725"/>
            <a:ext cx="1447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 equipe avalia aprovação, recusa, reagendamento ou novas datas.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c86f13484d4631">
            <a:extLst>
              <a:ext uri="{96DAC541-7B7A-43D3-8B79-37D633B846F1}">
                <asvg:svgBlip xmlns:asvg="http://schemas.microsoft.com/office/drawing/2016/SVG/main" r:embed="R0a7e4e0a6b5d491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14925" y="37338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4348EF4-1079-4EE1-A749-FA0FAC79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100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Agenda operacional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4197470-022B-4B97-B8C2-DB5B4869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57725"/>
            <a:ext cx="1447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O pedido aprovado recebe equipe, chefia, agentes, recursos e materiais.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b6304cae744ed4">
            <a:extLst>
              <a:ext uri="{96DAC541-7B7A-43D3-8B79-37D633B846F1}">
                <asvg:svgBlip xmlns:asvg="http://schemas.microsoft.com/office/drawing/2016/SVG/main" r:embed="Rae2073c4100e430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00875" y="37338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60EE419-A47D-49E4-97CA-BBF39B9B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100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Execução da ação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596C8C7-1B87-4E0A-8FFC-C8C2CD85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57725"/>
            <a:ext cx="1447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 atividade educativa é realizada com base na escala e nas informações consolidadas.</a:t>
            </a:r>
          </a:p>
        </p:txBody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864322bf644c9c">
            <a:extLst>
              <a:ext uri="{96DAC541-7B7A-43D3-8B79-37D633B846F1}">
                <asvg:svgBlip xmlns:asvg="http://schemas.microsoft.com/office/drawing/2016/SVG/main" r:embed="R3b8c536b75c34d4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86825" y="37338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85179AA-4650-4EC3-9481-DCBC14BD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100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Relatório Técnico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8A5BAC6-2E17-4EFC-AF1F-D2E3F0F4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57725"/>
            <a:ext cx="1447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Quantitativos, ocorrências, materiais e resultados alimentam indicadores.</a:t>
            </a:r>
          </a:p>
        </p:txBody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4ce14d41ec4526">
            <a:extLst>
              <a:ext uri="{96DAC541-7B7A-43D3-8B79-37D633B846F1}">
                <asvg:svgBlip xmlns:asvg="http://schemas.microsoft.com/office/drawing/2016/SVG/main" r:embed="R8071789779d3487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772775" y="37338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215BC27-0A44-4022-80A9-5DC9B17A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2100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Pesquisa de satisfação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803DC2C-C784-444D-A3CD-1CECBAD8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657725"/>
            <a:ext cx="1447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Após a ação, o formulário é enviado para coletar feedback dos participantes.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83E322B-4A58-4F84-A97F-E5BA4257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70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1764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7BD68A2-7E1F-4ACB-9F90-87EF2345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245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C14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C14E"/>
                </a:solidFill>
                <a:latin typeface="Aptos"/>
                <a:ea typeface="Aptos"/>
                <a:cs typeface="Aptos"/>
              </a:rPr>
              <a:t>RESULTADO INTEGRADO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51C079A-B013-4B1C-8882-41F67236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791200"/>
            <a:ext cx="7620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Dados operacionais consistentes e feedback dos participantes apoiam dashboards, estatísticas e decisões de gestão sobre as ações educativas.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D19BDC4-1BFB-47DC-81F3-0EB01923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198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D8E3EA">
                    <a:alpha val="73333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8E3EA">
                    <a:alpha val="73333"/>
                  </a:srgbClr>
                </a:solidFill>
                <a:latin typeface="Aptos"/>
                <a:ea typeface="Aptos"/>
                <a:cs typeface="Aptos"/>
              </a:rPr>
              <a:t>AGENDA EDUCAÇÃO OLS</a:t>
            </a:r>
          </a:p>
        </p:txBody>
      </p:sp>
    </p:spTree>
    <p:extLst>
      <p:ext uri="{BB962C8B-B14F-4D97-AF65-F5344CB8AC3E}">
        <p14:creationId xmlns:p14="http://schemas.microsoft.com/office/powerpoint/2010/main" val="14859993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2026-06-10T17:06:35.5430000Z</dcterms:created>
  <dcterms:modified xsi:type="dcterms:W3CDTF">2026-06-10T17:06:35.5430000Z</dcterms:modified>
</coreProperties>
</file>